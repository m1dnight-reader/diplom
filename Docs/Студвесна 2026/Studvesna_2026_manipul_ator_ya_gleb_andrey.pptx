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63" r:id="rId5"/>
    <p:sldId id="262" r:id="rId6"/>
    <p:sldId id="284" r:id="rId7"/>
    <p:sldId id="288" r:id="rId8"/>
    <p:sldId id="291" r:id="rId9"/>
    <p:sldId id="264" r:id="rId10"/>
    <p:sldId id="286" r:id="rId11"/>
    <p:sldId id="285" r:id="rId12"/>
    <p:sldId id="296" r:id="rId13"/>
    <p:sldId id="280" r:id="rId14"/>
    <p:sldId id="275" r:id="rId15"/>
    <p:sldId id="294" r:id="rId16"/>
    <p:sldId id="295" r:id="rId17"/>
    <p:sldId id="297" r:id="rId18"/>
    <p:sldId id="298" r:id="rId19"/>
    <p:sldId id="259" r:id="rId20"/>
    <p:sldId id="281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BD24"/>
    <a:srgbClr val="20A637"/>
    <a:srgbClr val="FFFFFF"/>
    <a:srgbClr val="E6E6E6"/>
    <a:srgbClr val="75C3B3"/>
    <a:srgbClr val="0068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268" autoAdjust="0"/>
  </p:normalViewPr>
  <p:slideViewPr>
    <p:cSldViewPr snapToGrid="0">
      <p:cViewPr varScale="1">
        <p:scale>
          <a:sx n="153" d="100"/>
          <a:sy n="153" d="100"/>
        </p:scale>
        <p:origin x="58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360BA-F06A-41A6-BB7D-19E0D17DB8C6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24684" y="1362632"/>
            <a:ext cx="68961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Проектирование складского манипулятора </a:t>
            </a:r>
            <a:endParaRPr lang="ru-RU" sz="4000" cap="all" dirty="0">
              <a:solidFill>
                <a:schemeClr val="bg1"/>
              </a:solidFill>
              <a:latin typeface="ALS Sector Bold" panose="02000000000000000000" pitchFamily="50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585" y="2882900"/>
            <a:ext cx="988314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Студенты группы СМ7-61Б:</a:t>
            </a:r>
          </a:p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- Родионов Глеб Андреевич</a:t>
            </a:r>
          </a:p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- Телегин Дмитрий Дмитриевич</a:t>
            </a:r>
          </a:p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- Алещинин Андрей Владиславович</a:t>
            </a:r>
          </a:p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Научный руководитель: Перминова Е. А.</a:t>
            </a:r>
          </a:p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Научный консультант: Бошляков А.А.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1205406" y="2684702"/>
            <a:ext cx="41719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58240" y="1588785"/>
            <a:ext cx="2590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Цели проекта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8240" y="2790960"/>
            <a:ext cx="28166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Расчет узлов складского робота – манипулятора</a:t>
            </a:r>
          </a:p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Создание модели робота - манипулятора</a:t>
            </a:r>
          </a:p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Создание конструкторской документтации</a:t>
            </a:r>
          </a:p>
          <a:p>
            <a:pPr marL="342900" indent="-342900">
              <a:buAutoNum type="arabicPeriod"/>
            </a:pPr>
            <a:endParaRPr lang="ru-RU" sz="1600" dirty="0">
              <a:latin typeface="ALS Sector Regular" panose="02000000000000000000" pitchFamily="50" charset="0"/>
              <a:cs typeface="ALS Sector Regular" panose="02000000000000000000" pitchFamily="50" charset="0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584" y="2623919"/>
            <a:ext cx="6013508" cy="3382598"/>
          </a:xfrm>
          <a:prstGeom prst="rect">
            <a:avLst/>
          </a:prstGeom>
          <a:ln w="3810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158240" y="2211297"/>
            <a:ext cx="259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Задаваемые параметры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458" y="1595775"/>
            <a:ext cx="259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Создание упрощенной модели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8240" y="2937486"/>
            <a:ext cx="259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Масса груза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Примерные массы звеньев и приводов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Скорости и ускорения на осях приводов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Передаточные отношения редукторов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Числа ступеней редукторов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0519" y="5826934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 процессе проектирования могут изменться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240" y="1235847"/>
            <a:ext cx="40890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Техническое задание</a:t>
            </a:r>
          </a:p>
          <a:p>
            <a:endParaRPr lang="ru-RU" sz="3200" cap="all" dirty="0">
              <a:latin typeface="ALS Sector Bold" panose="02000000000000000000" pitchFamily="50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037" y="2734369"/>
            <a:ext cx="5363361" cy="3016891"/>
          </a:xfrm>
          <a:prstGeom prst="rect">
            <a:avLst/>
          </a:prstGeom>
          <a:ln w="38100">
            <a:solidFill>
              <a:schemeClr val="accent6"/>
            </a:solidFill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882" y="1890770"/>
            <a:ext cx="2975031" cy="3380060"/>
          </a:xfrm>
          <a:prstGeom prst="rect">
            <a:avLst/>
          </a:prstGeom>
          <a:ln w="3810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229838" y="1841916"/>
            <a:ext cx="49306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Многоступенчатый планетарный редуктор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651" y="2501411"/>
            <a:ext cx="40202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Долговечнее других вариантов редукторов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Дешевле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Проще в изготовлении и расчете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762" y="3275293"/>
            <a:ext cx="5238750" cy="28575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660" y="2980130"/>
            <a:ext cx="4023840" cy="2369595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1045651" y="1547304"/>
            <a:ext cx="41103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LS Sector Bold" panose="02000000000000000000" pitchFamily="50" charset="0"/>
              </a:rPr>
              <a:t>Преимущества планетарного редуктора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Изображение 8"/>
          <p:cNvPicPr/>
          <p:nvPr/>
        </p:nvPicPr>
        <p:blipFill>
          <a:blip r:embed="rId3"/>
          <a:stretch>
            <a:fillRect/>
          </a:stretch>
        </p:blipFill>
        <p:spPr>
          <a:xfrm>
            <a:off x="5224143" y="2397645"/>
            <a:ext cx="6029325" cy="3135630"/>
          </a:xfrm>
          <a:prstGeom prst="rect">
            <a:avLst/>
          </a:prstGeom>
          <a:ln w="38100">
            <a:solidFill>
              <a:srgbClr val="88BD24"/>
            </a:solidFill>
          </a:ln>
        </p:spPr>
      </p:pic>
      <p:sp>
        <p:nvSpPr>
          <p:cNvPr id="4" name="Текстовое поле 3"/>
          <p:cNvSpPr txBox="1"/>
          <p:nvPr/>
        </p:nvSpPr>
        <p:spPr>
          <a:xfrm>
            <a:off x="1263015" y="1245235"/>
            <a:ext cx="62101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3200" dirty="0"/>
              <a:t>Использование дифференциала для ориентации схвата</a:t>
            </a: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63015" y="2397645"/>
            <a:ext cx="406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000" dirty="0"/>
              <a:t>Преимущества: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dirty="0"/>
              <a:t>снижение момента инерции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dirty="0"/>
              <a:t>суммирование моментов на рабочем органе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dirty="0"/>
              <a:t>компактность</a:t>
            </a:r>
          </a:p>
          <a:p>
            <a:endParaRPr lang="ru-RU" altLang="en-US" sz="2000" dirty="0"/>
          </a:p>
          <a:p>
            <a:r>
              <a:rPr lang="ru-RU" altLang="en-US" sz="2000" dirty="0"/>
              <a:t>Недостатки:</a:t>
            </a:r>
          </a:p>
          <a:p>
            <a:r>
              <a:rPr lang="ru-RU" altLang="en-US" sz="2000" dirty="0"/>
              <a:t>- сложность управления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771" y="2030065"/>
            <a:ext cx="5004729" cy="2971127"/>
          </a:xfrm>
          <a:prstGeom prst="rect">
            <a:avLst/>
          </a:prstGeom>
          <a:ln w="38100">
            <a:solidFill>
              <a:srgbClr val="88BD24"/>
            </a:solidFill>
          </a:ln>
        </p:spPr>
      </p:pic>
      <p:sp>
        <p:nvSpPr>
          <p:cNvPr id="7" name="Текстовое поле 6"/>
          <p:cNvSpPr txBox="1"/>
          <p:nvPr/>
        </p:nvSpPr>
        <p:spPr>
          <a:xfrm>
            <a:off x="825730" y="3112998"/>
            <a:ext cx="48279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dirty="0"/>
              <a:t>позволяет перенести двигатели и редукторы дальше от схвата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dirty="0"/>
              <a:t>при перегрузки ремень первым выйдет из строя, что спасёт редукторы от разрушения.</a:t>
            </a:r>
          </a:p>
        </p:txBody>
      </p:sp>
      <p:sp>
        <p:nvSpPr>
          <p:cNvPr id="2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Picture backgroun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622" y="4457857"/>
            <a:ext cx="2318755" cy="1739066"/>
          </a:xfrm>
          <a:prstGeom prst="rect">
            <a:avLst/>
          </a:prstGeom>
          <a:ln w="38100">
            <a:solidFill>
              <a:srgbClr val="88BD24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3BEC72-0CBE-095D-2FD0-6CF272760EE2}"/>
              </a:ext>
            </a:extLst>
          </p:cNvPr>
          <p:cNvSpPr txBox="1"/>
          <p:nvPr/>
        </p:nvSpPr>
        <p:spPr>
          <a:xfrm>
            <a:off x="825730" y="1493188"/>
            <a:ext cx="44279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3200" dirty="0"/>
              <a:t>Ременные передачи для передачи момента на дифференциал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538" y="1521442"/>
            <a:ext cx="4211585" cy="4459579"/>
          </a:xfrm>
          <a:prstGeom prst="rect">
            <a:avLst/>
          </a:prstGeom>
          <a:noFill/>
          <a:ln w="38100">
            <a:solidFill>
              <a:srgbClr val="88BD2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258" y="1179717"/>
            <a:ext cx="1983179" cy="3878950"/>
          </a:xfrm>
          <a:prstGeom prst="rect">
            <a:avLst/>
          </a:prstGeom>
          <a:noFill/>
          <a:ln w="38100">
            <a:solidFill>
              <a:srgbClr val="88BD2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35BD87-D909-8FA6-EF8B-D75C3C7A2FE4}"/>
              </a:ext>
            </a:extLst>
          </p:cNvPr>
          <p:cNvSpPr txBox="1"/>
          <p:nvPr/>
        </p:nvSpPr>
        <p:spPr>
          <a:xfrm>
            <a:off x="1158240" y="3864129"/>
            <a:ext cx="259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Дешевле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Проще в изготовлении и расчете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Использование стандартных изделий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7682D-B4EE-1D50-E07C-3EA334CAEA72}"/>
              </a:ext>
            </a:extLst>
          </p:cNvPr>
          <p:cNvSpPr txBox="1"/>
          <p:nvPr/>
        </p:nvSpPr>
        <p:spPr>
          <a:xfrm>
            <a:off x="1158239" y="1452018"/>
            <a:ext cx="40579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 dirty="0"/>
              <a:t>Использование многоступенчатый цилиндрического редуктора и консольной опоры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022C2-F7C2-CBC9-A6A5-79802F03B81B}"/>
              </a:ext>
            </a:extLst>
          </p:cNvPr>
          <p:cNvSpPr txBox="1"/>
          <p:nvPr/>
        </p:nvSpPr>
        <p:spPr>
          <a:xfrm>
            <a:off x="1158239" y="3464019"/>
            <a:ext cx="3525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>
                <a:latin typeface="ALS Sector Bold" panose="02000000000000000000" pitchFamily="50" charset="0"/>
              </a:rPr>
              <a:t>Принципы:</a:t>
            </a:r>
            <a:endParaRPr lang="ru-RU" sz="2000" dirty="0">
              <a:latin typeface="ALS Sector Bold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421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58240" y="3864129"/>
            <a:ext cx="259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Составление технического задания</a:t>
            </a:r>
          </a:p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Расчет редуктора</a:t>
            </a:r>
          </a:p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Моделирование в среде САПР</a:t>
            </a:r>
          </a:p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Создание КД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240" y="1452018"/>
            <a:ext cx="2590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Разработка звеньев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8240" y="2719381"/>
            <a:ext cx="35257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Этапы разработки планетарного редуктора: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898" y="2197383"/>
            <a:ext cx="5792963" cy="3786672"/>
          </a:xfrm>
          <a:prstGeom prst="rect">
            <a:avLst/>
          </a:prstGeom>
          <a:ln w="38100">
            <a:solidFill>
              <a:schemeClr val="accent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4500620" y="1675704"/>
            <a:ext cx="5007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Планетарный редуктор в разрезе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15" y="2198266"/>
            <a:ext cx="3109443" cy="3581853"/>
          </a:xfrm>
          <a:prstGeom prst="rect">
            <a:avLst/>
          </a:prstGeom>
          <a:ln w="38100">
            <a:solidFill>
              <a:srgbClr val="88BD24"/>
            </a:solidFill>
          </a:ln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562" y="2197829"/>
            <a:ext cx="4659798" cy="3582290"/>
          </a:xfrm>
          <a:prstGeom prst="rect">
            <a:avLst/>
          </a:prstGeom>
          <a:ln w="38100">
            <a:solidFill>
              <a:srgbClr val="88BD24"/>
            </a:solidFill>
          </a:ln>
        </p:spPr>
      </p:pic>
      <p:sp>
        <p:nvSpPr>
          <p:cNvPr id="4" name="Текстовое поле 3"/>
          <p:cNvSpPr txBox="1"/>
          <p:nvPr/>
        </p:nvSpPr>
        <p:spPr>
          <a:xfrm>
            <a:off x="1263015" y="1245235"/>
            <a:ext cx="9091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3200" dirty="0"/>
              <a:t>Конструкция дифференциала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503" y="2126055"/>
            <a:ext cx="6265795" cy="4028974"/>
          </a:xfrm>
          <a:prstGeom prst="rect">
            <a:avLst/>
          </a:prstGeom>
          <a:ln w="38100">
            <a:solidFill>
              <a:srgbClr val="88BD24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F0998E-832D-9DC4-0559-2FB00FFEFFB0}"/>
              </a:ext>
            </a:extLst>
          </p:cNvPr>
          <p:cNvSpPr txBox="1"/>
          <p:nvPr/>
        </p:nvSpPr>
        <p:spPr>
          <a:xfrm>
            <a:off x="1158240" y="1552491"/>
            <a:ext cx="41103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800" dirty="0"/>
              <a:t>Разработка звена с дифференциалом</a:t>
            </a:r>
          </a:p>
          <a:p>
            <a:endParaRPr lang="ru-RU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8FF13-F2BB-4189-7C91-3EC74C4F0532}"/>
              </a:ext>
            </a:extLst>
          </p:cNvPr>
          <p:cNvSpPr txBox="1"/>
          <p:nvPr/>
        </p:nvSpPr>
        <p:spPr>
          <a:xfrm>
            <a:off x="1158240" y="2537376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Идея: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511E8-8B66-A36B-9A58-3BB3D6C73427}"/>
              </a:ext>
            </a:extLst>
          </p:cNvPr>
          <p:cNvSpPr txBox="1"/>
          <p:nvPr/>
        </p:nvSpPr>
        <p:spPr>
          <a:xfrm>
            <a:off x="1158240" y="2937486"/>
            <a:ext cx="25908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1600" dirty="0"/>
              <a:t>сделать конструкцию простой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1600" dirty="0"/>
              <a:t>реализовать управление схватом через дифференциал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1600" dirty="0"/>
              <a:t>использовать минимальное количество уникальных деталей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1600" dirty="0"/>
              <a:t>оставить ремонтопригодность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799" y="1866411"/>
            <a:ext cx="4034881" cy="4137897"/>
          </a:xfrm>
          <a:prstGeom prst="rect">
            <a:avLst/>
          </a:prstGeom>
          <a:noFill/>
          <a:ln w="38100">
            <a:solidFill>
              <a:srgbClr val="88BD2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588" y="2798032"/>
            <a:ext cx="3448025" cy="3400860"/>
          </a:xfrm>
          <a:prstGeom prst="rect">
            <a:avLst/>
          </a:prstGeom>
          <a:noFill/>
          <a:ln w="38100">
            <a:solidFill>
              <a:srgbClr val="88BD2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FCC6F0-ACFC-3B7E-A0E7-BA176DC04B09}"/>
              </a:ext>
            </a:extLst>
          </p:cNvPr>
          <p:cNvSpPr txBox="1"/>
          <p:nvPr/>
        </p:nvSpPr>
        <p:spPr>
          <a:xfrm>
            <a:off x="1158240" y="1574023"/>
            <a:ext cx="4110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3200" dirty="0"/>
              <a:t>Разработка 1-го звена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8B9C4-8438-FF4C-9563-1B24ED5EFC8B}"/>
              </a:ext>
            </a:extLst>
          </p:cNvPr>
          <p:cNvSpPr txBox="1"/>
          <p:nvPr/>
        </p:nvSpPr>
        <p:spPr>
          <a:xfrm>
            <a:off x="1158240" y="2348087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Идея: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89209-FA52-66AC-17C3-4E97B8A37D9C}"/>
              </a:ext>
            </a:extLst>
          </p:cNvPr>
          <p:cNvSpPr txBox="1"/>
          <p:nvPr/>
        </p:nvSpPr>
        <p:spPr>
          <a:xfrm>
            <a:off x="1158240" y="2831283"/>
            <a:ext cx="2590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1600" dirty="0"/>
              <a:t>Многоступенчатый цилиндрического редуктора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1600" dirty="0"/>
              <a:t>Консольная опора</a:t>
            </a:r>
          </a:p>
        </p:txBody>
      </p:sp>
    </p:spTree>
    <p:extLst>
      <p:ext uri="{BB962C8B-B14F-4D97-AF65-F5344CB8AC3E}">
        <p14:creationId xmlns:p14="http://schemas.microsoft.com/office/powerpoint/2010/main" val="1463221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8240" y="1172100"/>
            <a:ext cx="40890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Создание Конструкторской документации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153" y="1819469"/>
            <a:ext cx="6268138" cy="443551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1"/>
          <a:stretch>
            <a:fillRect/>
          </a:stretch>
        </p:blipFill>
        <p:spPr>
          <a:xfrm>
            <a:off x="1158240" y="3429000"/>
            <a:ext cx="4020268" cy="28259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8240" y="2641203"/>
            <a:ext cx="3040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Чертеж общего вида 2-го звена манипулятора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949" y="670699"/>
            <a:ext cx="7928058" cy="5738327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303" y="1812174"/>
            <a:ext cx="7303924" cy="4269236"/>
          </a:xfrm>
          <a:prstGeom prst="rect">
            <a:avLst/>
          </a:prstGeom>
          <a:ln w="38100">
            <a:solidFill>
              <a:schemeClr val="accent6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954381" y="1506322"/>
            <a:ext cx="19467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Модель </a:t>
            </a:r>
            <a:r>
              <a:rPr lang="ru-RU" sz="3200" dirty="0">
                <a:latin typeface="ALS Sector Bold" panose="02000000000000000000" pitchFamily="50" charset="0"/>
              </a:rPr>
              <a:t>2-го звена</a:t>
            </a:r>
            <a:r>
              <a:rPr lang="ru-RU" sz="3200" cap="all" dirty="0">
                <a:latin typeface="ALS Sector Bold" panose="02000000000000000000" pitchFamily="50" charset="0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8858" y="1388067"/>
            <a:ext cx="8710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Создание Конструкторской документации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08858" y="1972842"/>
            <a:ext cx="4006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ALS Sector Bold" panose="02000000000000000000" pitchFamily="50" charset="0"/>
              </a:rPr>
              <a:t>Чертеж общего вида 3-го звена манипулятора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660A13-F3F1-EBDA-456E-351C1AF5E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935" y="2470702"/>
            <a:ext cx="2620130" cy="1856296"/>
          </a:xfrm>
          <a:prstGeom prst="rect">
            <a:avLst/>
          </a:prstGeom>
          <a:ln w="38100">
            <a:solidFill>
              <a:srgbClr val="88BD24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A64E6DF-797B-1075-6994-319D3CC53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832" y="3601456"/>
            <a:ext cx="3657732" cy="2594509"/>
          </a:xfrm>
          <a:prstGeom prst="rect">
            <a:avLst/>
          </a:prstGeom>
          <a:ln w="38100">
            <a:solidFill>
              <a:srgbClr val="88BD24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DD0C829-32C9-3334-A7ED-B24236167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317" y="2126207"/>
            <a:ext cx="5709361" cy="4053132"/>
          </a:xfrm>
          <a:prstGeom prst="rect">
            <a:avLst/>
          </a:prstGeom>
          <a:ln w="38100">
            <a:solidFill>
              <a:srgbClr val="88BD24"/>
            </a:solidFill>
          </a:ln>
        </p:spPr>
      </p:pic>
    </p:spTree>
    <p:extLst>
      <p:ext uri="{BB962C8B-B14F-4D97-AF65-F5344CB8AC3E}">
        <p14:creationId xmlns:p14="http://schemas.microsoft.com/office/powerpoint/2010/main" val="2582872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926" y="1591887"/>
            <a:ext cx="7460867" cy="4619263"/>
          </a:xfrm>
          <a:prstGeom prst="rect">
            <a:avLst/>
          </a:prstGeom>
          <a:ln w="38100">
            <a:solidFill>
              <a:srgbClr val="88BD24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813856" y="1297389"/>
            <a:ext cx="19833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Модель </a:t>
            </a:r>
            <a:r>
              <a:rPr lang="ru-RU" sz="3200" dirty="0">
                <a:latin typeface="ALS Sector Bold" panose="02000000000000000000" pitchFamily="50" charset="0"/>
              </a:rPr>
              <a:t>3-го звена</a:t>
            </a:r>
            <a:r>
              <a:rPr lang="ru-RU" sz="3200" cap="all" dirty="0">
                <a:latin typeface="ALS Sector Bold" panose="02000000000000000000" pitchFamily="50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3706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7416" y="1455355"/>
            <a:ext cx="8710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Создание Конструкторской документации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17416" y="2364673"/>
            <a:ext cx="5840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ALS Sector Bold" panose="02000000000000000000" pitchFamily="50" charset="0"/>
              </a:rPr>
              <a:t>Чертеж общего вида 1-го звена манипулятора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079" y="2174770"/>
            <a:ext cx="5629184" cy="3974893"/>
          </a:xfrm>
          <a:prstGeom prst="rect">
            <a:avLst/>
          </a:prstGeom>
          <a:noFill/>
          <a:ln w="38100">
            <a:solidFill>
              <a:srgbClr val="88BD2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774" y="2868645"/>
            <a:ext cx="4160214" cy="2943162"/>
          </a:xfrm>
          <a:prstGeom prst="rect">
            <a:avLst/>
          </a:prstGeom>
          <a:noFill/>
          <a:ln w="38100">
            <a:solidFill>
              <a:srgbClr val="88BD2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776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769" y="939339"/>
            <a:ext cx="5251133" cy="5059896"/>
          </a:xfrm>
          <a:prstGeom prst="rect">
            <a:avLst/>
          </a:prstGeom>
          <a:noFill/>
          <a:ln w="38100">
            <a:solidFill>
              <a:srgbClr val="88BD2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32109" y="1544725"/>
            <a:ext cx="19604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Модель </a:t>
            </a:r>
            <a:r>
              <a:rPr lang="ru-RU" sz="3200" dirty="0">
                <a:latin typeface="ALS Sector Bold" panose="02000000000000000000" pitchFamily="50" charset="0"/>
              </a:rPr>
              <a:t>1-го звена </a:t>
            </a:r>
            <a:endParaRPr lang="ru-RU" sz="3200" cap="all" dirty="0">
              <a:latin typeface="ALS Sector Bold" panose="020000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B7A0EC-A566-972A-7509-824D98280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6494" y="2765198"/>
            <a:ext cx="3271057" cy="3354571"/>
          </a:xfrm>
          <a:prstGeom prst="rect">
            <a:avLst/>
          </a:prstGeom>
          <a:noFill/>
          <a:ln w="38100">
            <a:solidFill>
              <a:srgbClr val="88BD2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0792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2920" y="1317749"/>
            <a:ext cx="6896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ВЫводы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920" y="2060417"/>
            <a:ext cx="48997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Спроектирован ряд многоступенчатых планетарных редукторов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Реализован дифференциал и ременная передача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Использован многоступенчатый цилиндрический редуктор и консольная опора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EF2F7A-78C7-7F89-FEE7-39F809B24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611" y="3552342"/>
            <a:ext cx="3660527" cy="288071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DA37D8-44EC-FE5A-D700-3741D798A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602" y="2224807"/>
            <a:ext cx="3436836" cy="4208251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15" y="755044"/>
            <a:ext cx="2473973" cy="172303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64934" y="1422544"/>
            <a:ext cx="8472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cap="all" dirty="0" err="1">
                <a:solidFill>
                  <a:schemeClr val="bg1"/>
                </a:solidFill>
                <a:latin typeface="ALS Sector Bold" panose="02000000000000000000" pitchFamily="50" charset="0"/>
              </a:rPr>
              <a:t>СпасибоЗа</a:t>
            </a:r>
            <a:r>
              <a:rPr lang="ru-RU" sz="40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 внимание!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99616" y="2596896"/>
            <a:ext cx="40906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Реквизиты: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</a:rPr>
              <a:t>Родионов Г.А.</a:t>
            </a:r>
          </a:p>
          <a:p>
            <a:r>
              <a:rPr lang="en-US" dirty="0">
                <a:solidFill>
                  <a:schemeClr val="bg1"/>
                </a:solidFill>
              </a:rPr>
              <a:t>+7 916 549 51 46 ga_rodionov@mail.ru</a:t>
            </a:r>
          </a:p>
          <a:p>
            <a:r>
              <a:rPr lang="ru-RU" dirty="0">
                <a:solidFill>
                  <a:schemeClr val="bg1"/>
                </a:solidFill>
              </a:rPr>
              <a:t> - Телегин Д.Д.</a:t>
            </a:r>
          </a:p>
          <a:p>
            <a:r>
              <a:rPr lang="ru-RU" dirty="0">
                <a:solidFill>
                  <a:schemeClr val="bg1"/>
                </a:solidFill>
              </a:rPr>
              <a:t>+7 961 802 12 38 </a:t>
            </a:r>
            <a:r>
              <a:rPr lang="en-US" dirty="0">
                <a:solidFill>
                  <a:schemeClr val="bg1"/>
                </a:solidFill>
              </a:rPr>
              <a:t>login</a:t>
            </a:r>
            <a:r>
              <a:rPr lang="ru-RU" dirty="0">
                <a:solidFill>
                  <a:schemeClr val="bg1"/>
                </a:solidFill>
              </a:rPr>
              <a:t>.</a:t>
            </a:r>
            <a:r>
              <a:rPr lang="en-US" dirty="0">
                <a:solidFill>
                  <a:schemeClr val="bg1"/>
                </a:solidFill>
              </a:rPr>
              <a:t>telegin@mail.ru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</a:rPr>
              <a:t>Алещинин А.В.</a:t>
            </a:r>
          </a:p>
          <a:p>
            <a:r>
              <a:rPr lang="ru-RU" dirty="0">
                <a:solidFill>
                  <a:schemeClr val="bg1"/>
                </a:solidFill>
              </a:rPr>
              <a:t>+7 925 032 46 32 </a:t>
            </a:r>
            <a:r>
              <a:rPr lang="en-US" dirty="0">
                <a:solidFill>
                  <a:schemeClr val="bg1"/>
                </a:solidFill>
              </a:rPr>
              <a:t>a.aleschinin@yandex.ru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336</Words>
  <Application>Microsoft Office PowerPoint</Application>
  <PresentationFormat>Широкоэкранный</PresentationFormat>
  <Paragraphs>80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ALS Sector Bold</vt:lpstr>
      <vt:lpstr>ALS Sector Regular</vt:lpstr>
      <vt:lpstr>Arial</vt:lpstr>
      <vt:lpstr>Calibri</vt:lpstr>
      <vt:lpstr>Calibri Light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179</cp:revision>
  <dcterms:created xsi:type="dcterms:W3CDTF">2026-03-23T12:07:00Z</dcterms:created>
  <dcterms:modified xsi:type="dcterms:W3CDTF">2026-04-22T06:14:45Z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033A4B5E2AEE484BAD9EAACA6C103296_12</vt:lpwstr>
  </property>
  <property fmtid="{D5CDD505-2E9C-101B-9397-08002B2CF9AE}" pid="3" name="KSOProductBuildVer">
    <vt:lpwstr>1049-12.2.0.23196</vt:lpwstr>
  </property>
</Properties>
</file>